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Helvetica World" charset="1" panose="020B0500040000020004"/>
      <p:regular r:id="rId26"/>
    </p:embeddedFont>
    <p:embeddedFont>
      <p:font typeface="Georgia Pro Condensed" charset="1" panose="02040506050405020303"/>
      <p:regular r:id="rId27"/>
    </p:embeddedFont>
    <p:embeddedFont>
      <p:font typeface="Helvetica World Bold" charset="1" panose="020B080004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8392160"/>
            <a:ext cx="6886575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800" spc="-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Sachin Vishvakarma(211060030)</a:t>
            </a:r>
          </a:p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Shashwat Barai(221060007)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Exoplanet Classification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1887" y="5436645"/>
            <a:ext cx="866798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 spc="-5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Machine Learning Approach</a:t>
            </a:r>
          </a:p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 spc="-5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Inspired by Kepler Space Telescope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Kepler Telescope monitors star brightness to detect exoplanets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349750"/>
            <a:chOff x="0" y="0"/>
            <a:chExt cx="17259300" cy="579966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0C41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Introduction to Exoplanets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Planets Outside Our Solar System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59641"/>
              <a:ext cx="13512134" cy="2740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999" spc="-44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Exoplanets are crucial for understanding our universe. Detecting and classifying them presents challenges, particularly in distinguishing genuine planets from noise in observational data, particularly from the Kepler mission.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800225" y="6134508"/>
            <a:ext cx="1224295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spc="-4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Kepler Telescope monitors star brightness to detect exoplanets.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4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helps classify dips in brightness as planets or non-planets.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spc="-4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Goal: Build a classifier using Kepler-labelled time series dataset.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Importance of Exoplanet Classification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38325" y="4224814"/>
            <a:ext cx="6886575" cy="1837373"/>
            <a:chOff x="0" y="0"/>
            <a:chExt cx="9182100" cy="24498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1145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Exoplanets hold clues to </a:t>
              </a:r>
              <a:r>
                <a:rPr lang="en-US" b="true" sz="2499" spc="-37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our universe</a:t>
              </a: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6944836"/>
            <a:ext cx="6886575" cy="1399223"/>
            <a:chOff x="0" y="0"/>
            <a:chExt cx="9182100" cy="18656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Machine Learning Goal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04714"/>
              <a:ext cx="9182100" cy="560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aim is to </a:t>
              </a:r>
              <a:r>
                <a:rPr lang="en-US" b="true" sz="2499" spc="-37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automate exoplanet classification</a:t>
              </a: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05025" y="6937534"/>
            <a:ext cx="6886575" cy="1883569"/>
            <a:chOff x="0" y="0"/>
            <a:chExt cx="9182100" cy="25114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Classification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66308"/>
              <a:ext cx="9182100" cy="1145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Accurate classification helps identify </a:t>
              </a:r>
              <a:r>
                <a:rPr lang="en-US" b="true" sz="2499" spc="-37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potentially habitable worlds</a:t>
              </a: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42443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9303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34675" y="4258786"/>
            <a:ext cx="6886575" cy="1399223"/>
            <a:chOff x="0" y="0"/>
            <a:chExt cx="9182100" cy="1865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Kepler Mission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60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Provided vast data from </a:t>
              </a:r>
              <a:r>
                <a:rPr lang="en-US" b="true" sz="2499" spc="-37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thousands of stars</a:t>
              </a: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46127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0C4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806981" y="3594259"/>
            <a:ext cx="10348796" cy="4943283"/>
          </a:xfrm>
          <a:custGeom>
            <a:avLst/>
            <a:gdLst/>
            <a:ahLst/>
            <a:cxnLst/>
            <a:rect r="r" b="b" t="t" l="l"/>
            <a:pathLst>
              <a:path h="4943283" w="10348796">
                <a:moveTo>
                  <a:pt x="0" y="0"/>
                </a:moveTo>
                <a:lnTo>
                  <a:pt x="10348795" y="0"/>
                </a:lnTo>
                <a:lnTo>
                  <a:pt x="10348795" y="4943283"/>
                </a:lnTo>
                <a:lnTo>
                  <a:pt x="0" y="494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8261" y="1265822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 and Feature Preparation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28261" y="2564397"/>
            <a:ext cx="12944475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pc="-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Understanding the Dataset and Preprocessing Steps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48501"/>
            <a:ext cx="4432133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4199" spc="-62" u="sng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Dataset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6127" y="3940016"/>
            <a:ext cx="7680659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  <a:r>
              <a:rPr lang="en-US" sz="3099" spc="-46" u="sng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</a:t>
            </a: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Kaggle – Kepler Labelled Time Series </a:t>
            </a: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Dataset.</a:t>
            </a:r>
          </a:p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Contains 3197 flux readings per star.</a:t>
            </a:r>
          </a:p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  <a:r>
              <a:rPr lang="en-US" sz="3099" spc="-46" u="sng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Labels</a:t>
            </a: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0 = Non-Planet, 1 = Planet.</a:t>
            </a:r>
          </a:p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99" spc="-46" u="sng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 Samples</a:t>
            </a: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5087</a:t>
            </a:r>
          </a:p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  <a:r>
              <a:rPr lang="en-US" sz="3099" spc="-46" u="sng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Samples</a:t>
            </a:r>
            <a:r>
              <a:rPr lang="en-US" sz="3099" spc="-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570</a:t>
            </a:r>
          </a:p>
          <a:p>
            <a:pPr algn="just" marL="0" indent="0" lvl="0">
              <a:lnSpc>
                <a:spcPts val="37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Preparation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4259580"/>
            <a:ext cx="6886575" cy="1780223"/>
            <a:chOff x="0" y="0"/>
            <a:chExt cx="9182100" cy="23736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Description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Two datasets contain thousands of flux measurements.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Scaling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StandardScaler normalization ensures uniform data distribution.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05025" y="6937534"/>
            <a:ext cx="6886575" cy="1826419"/>
            <a:chOff x="0" y="0"/>
            <a:chExt cx="9182100" cy="24352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Label Encoding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Original labels converted to binary format for analysis.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42443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9303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34675" y="4258786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Feature Extraction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FFT converts time-series data into frequency domain.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031" y="332739"/>
            <a:ext cx="4526994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9"/>
              </a:lnSpc>
              <a:spcBef>
                <a:spcPct val="0"/>
              </a:spcBef>
            </a:pPr>
            <a:r>
              <a:rPr lang="en-US" sz="4099" strike="noStrike" u="sng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4031" y="1479717"/>
            <a:ext cx="14191170" cy="242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Removed label column and isolated flux values.</a:t>
            </a:r>
          </a:p>
          <a:p>
            <a:pPr algn="l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Applied FFT to convert time-domain light curves into frequency-domain.</a:t>
            </a:r>
          </a:p>
          <a:p>
            <a:pPr algn="l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Scaled features using StandardScaler.</a:t>
            </a:r>
          </a:p>
          <a:p>
            <a:pPr algn="l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Balanced dataset using SMOTE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98698" y="4447539"/>
            <a:ext cx="2384822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u="sng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FFT?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9068" y="5591175"/>
            <a:ext cx="14662641" cy="270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  <a:spcBef>
                <a:spcPct val="0"/>
              </a:spcBef>
            </a:pPr>
            <a:r>
              <a:rPr lang="en-US" sz="38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Light curves contain periodic dips caused by exoplanet movement.</a:t>
            </a:r>
          </a:p>
          <a:p>
            <a:pPr algn="ctr">
              <a:lnSpc>
                <a:spcPts val="5435"/>
              </a:lnSpc>
              <a:spcBef>
                <a:spcPct val="0"/>
              </a:spcBef>
            </a:pPr>
            <a:r>
              <a:rPr lang="en-US" sz="38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FFT transforms signals to frequency domain.</a:t>
            </a:r>
          </a:p>
          <a:p>
            <a:pPr algn="ctr">
              <a:lnSpc>
                <a:spcPts val="5435"/>
              </a:lnSpc>
              <a:spcBef>
                <a:spcPct val="0"/>
              </a:spcBef>
            </a:pPr>
            <a:r>
              <a:rPr lang="en-US" sz="38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Allows model to learn dominant periodic patterns.</a:t>
            </a:r>
          </a:p>
          <a:p>
            <a:pPr algn="ctr">
              <a:lnSpc>
                <a:spcPts val="5435"/>
              </a:lnSpc>
              <a:spcBef>
                <a:spcPct val="0"/>
              </a:spcBef>
            </a:pPr>
            <a:r>
              <a:rPr lang="en-US" sz="38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Reduces noise and increases classification power.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1152525"/>
            <a:ext cx="6886575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0"/>
              </a:lnSpc>
            </a:pPr>
            <a:r>
              <a:rPr lang="en-US" sz="15000" spc="-45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845300"/>
            <a:ext cx="6886575" cy="2774950"/>
            <a:chOff x="0" y="0"/>
            <a:chExt cx="9182100" cy="36999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Instances of rare planets after SMOTE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2874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After applying the SMOTE oversampling technique, we effectively increased the representation of rare planets in our dataset, achieving a balanced class distribution necessary for accurate classification.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36645" y="3663616"/>
            <a:ext cx="6223582" cy="6268269"/>
          </a:xfrm>
          <a:custGeom>
            <a:avLst/>
            <a:gdLst/>
            <a:ahLst/>
            <a:cxnLst/>
            <a:rect r="r" b="b" t="t" l="l"/>
            <a:pathLst>
              <a:path h="6268269" w="6223582">
                <a:moveTo>
                  <a:pt x="0" y="0"/>
                </a:moveTo>
                <a:lnTo>
                  <a:pt x="6223582" y="0"/>
                </a:lnTo>
                <a:lnTo>
                  <a:pt x="6223582" y="6268269"/>
                </a:lnTo>
                <a:lnTo>
                  <a:pt x="0" y="6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5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97582" y="356235"/>
            <a:ext cx="6551414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4199" spc="-62" u="sng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Handling Imbalanced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46597"/>
            <a:ext cx="12106632" cy="201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  <a:spcBef>
                <a:spcPct val="0"/>
              </a:spcBef>
            </a:pPr>
            <a:r>
              <a:rPr lang="en-US" b="true" sz="3041" spc="-4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Real planet samples are extremely rare.</a:t>
            </a:r>
          </a:p>
          <a:p>
            <a:pPr algn="l">
              <a:lnSpc>
                <a:spcPts val="3650"/>
              </a:lnSpc>
              <a:spcBef>
                <a:spcPct val="0"/>
              </a:spcBef>
            </a:pPr>
            <a:r>
              <a:rPr lang="en-US" b="true" sz="3041" spc="-4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SMOTE used to oversample minority class.</a:t>
            </a:r>
          </a:p>
          <a:p>
            <a:pPr algn="l">
              <a:lnSpc>
                <a:spcPts val="3650"/>
              </a:lnSpc>
              <a:spcBef>
                <a:spcPct val="0"/>
              </a:spcBef>
            </a:pPr>
            <a:r>
              <a:rPr lang="en-US" b="true" sz="3041" spc="-4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Class weights used to force model to pay attention to rare planets.</a:t>
            </a:r>
          </a:p>
          <a:p>
            <a:pPr algn="l">
              <a:lnSpc>
                <a:spcPts val="3650"/>
              </a:lnSpc>
              <a:spcBef>
                <a:spcPct val="0"/>
              </a:spcBef>
            </a:pPr>
            <a:r>
              <a:rPr lang="en-US" b="true" sz="3041" spc="-4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Prevents model from predicting only ‘non-planet’.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0C4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12944475" cy="3465279"/>
            <a:chOff x="0" y="0"/>
            <a:chExt cx="17259300" cy="462037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Machine Learning Model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49812"/>
              <a:ext cx="17259300" cy="670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Architecture of the Artificial Neural Network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028700" y="4662237"/>
            <a:ext cx="13986112" cy="4223717"/>
            <a:chOff x="0" y="0"/>
            <a:chExt cx="18648149" cy="563162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18648149" cy="50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Sequenti</a:t>
              </a: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al Artificial Neural Network.</a:t>
              </a:r>
            </a:p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Layers:</a:t>
              </a:r>
            </a:p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– Dense(1024) → LeakyReLU → BatchNorm → Dropout</a:t>
              </a:r>
            </a:p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– Dense(512) → LeakyReLU → BatchNorm → Dropout</a:t>
              </a:r>
            </a:p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– Dense(128) → LeakyReLU → Dropout</a:t>
              </a:r>
            </a:p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 Output: 1 neuron with sigmoid activation.</a:t>
              </a:r>
            </a:p>
            <a:p>
              <a:pPr algn="l" marL="0" indent="0" lvl="0">
                <a:lnSpc>
                  <a:spcPts val="4224"/>
                </a:lnSpc>
              </a:pPr>
              <a:r>
                <a:rPr lang="en-US" sz="3249" spc="-97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•  Optimizer: Adam (low learning rate = 0.00005).</a:t>
              </a:r>
            </a:p>
            <a:p>
              <a:pPr algn="l" marL="0" indent="0" lvl="0">
                <a:lnSpc>
                  <a:spcPts val="97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615118"/>
              <a:ext cx="18648149" cy="16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9"/>
                </a:lnSpc>
                <a:spcBef>
                  <a:spcPct val="0"/>
                </a:spcBef>
              </a:pPr>
              <a:r>
                <a:rPr lang="en-US" b="true" sz="100" spc="-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Architecture of the Artificial Neural Network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ANN Architecture and Setup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4259580"/>
            <a:ext cx="6886575" cy="1780223"/>
            <a:chOff x="0" y="0"/>
            <a:chExt cx="9182100" cy="23736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Architecture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features an input layer and dense layers.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Optimizer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Adam optimizer with a low learning rate applied.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05025" y="6937534"/>
            <a:ext cx="6886575" cy="1416844"/>
            <a:chOff x="0" y="0"/>
            <a:chExt cx="9182100" cy="18891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Activation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LeakyReLU is used for hidden layer activation.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42443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9303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34675" y="4258786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Regularization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Batch Normalization and Dropout prevent overfitting.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0C4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3105150"/>
            <a:chOff x="0" y="0"/>
            <a:chExt cx="110998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0C41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Loss Function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814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Binary Crossentropy in ANN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Binary Crossentropy is the chosen loss function for our model, enabling effective classification of exoplanets by measuring the difference between predicted probabilities and actual labels, ensuring accurate learning.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Training Details and Trends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4259580"/>
            <a:ext cx="6886575" cy="1370648"/>
            <a:chOff x="0" y="0"/>
            <a:chExt cx="9182100" cy="18275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Training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was trained for 60 epochs.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Threshold Tuning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Adjustments were made to balance true positives.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05025" y="6937534"/>
            <a:ext cx="6886575" cy="1826419"/>
            <a:chOff x="0" y="0"/>
            <a:chExt cx="9182100" cy="24352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Accuracy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Training accuracy showed gradual improvement over time.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42443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9303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34675" y="4258786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Validation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Validation accuracy peaked early, indicating overfitting.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0C4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Model trained for 60 epochs.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 Validation accuracy quickly reached 100%.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 Loss gradually reduced over time.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Training stabilized well using batch normalization and dropout.</a:t>
              </a:r>
            </a:p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899570" y="2197286"/>
            <a:ext cx="7500998" cy="6684981"/>
          </a:xfrm>
          <a:custGeom>
            <a:avLst/>
            <a:gdLst/>
            <a:ahLst/>
            <a:cxnLst/>
            <a:rect r="r" b="b" t="t" l="l"/>
            <a:pathLst>
              <a:path h="6684981" w="7500998">
                <a:moveTo>
                  <a:pt x="0" y="0"/>
                </a:moveTo>
                <a:lnTo>
                  <a:pt x="7500998" y="0"/>
                </a:lnTo>
                <a:lnTo>
                  <a:pt x="7500998" y="6684981"/>
                </a:lnTo>
                <a:lnTo>
                  <a:pt x="0" y="6684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92" t="0" r="-2592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666750"/>
            <a:ext cx="12944475" cy="2150829"/>
            <a:chOff x="0" y="0"/>
            <a:chExt cx="17259300" cy="286777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Training, Evaluation, and Results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97212"/>
              <a:ext cx="17259300" cy="670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Insights into Model Performance Metrics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346910"/>
            <a:ext cx="5445673" cy="1796590"/>
            <a:chOff x="0" y="0"/>
            <a:chExt cx="7260898" cy="239545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7260898" cy="1227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435"/>
                </a:lnSpc>
              </a:pPr>
              <a:r>
                <a:rPr lang="en-US" sz="5719" spc="-171" u="sng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Training Summary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23953"/>
              <a:ext cx="7260898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930" y="3760871"/>
            <a:ext cx="17653508" cy="4889770"/>
          </a:xfrm>
          <a:custGeom>
            <a:avLst/>
            <a:gdLst/>
            <a:ahLst/>
            <a:cxnLst/>
            <a:rect r="r" b="b" t="t" l="l"/>
            <a:pathLst>
              <a:path h="4889770" w="17653508">
                <a:moveTo>
                  <a:pt x="0" y="0"/>
                </a:moveTo>
                <a:lnTo>
                  <a:pt x="17653508" y="0"/>
                </a:lnTo>
                <a:lnTo>
                  <a:pt x="17653508" y="4889770"/>
                </a:lnTo>
                <a:lnTo>
                  <a:pt x="0" y="4889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78932"/>
            <a:ext cx="5083342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 spc="-61" u="sng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Evaluation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239253"/>
            <a:ext cx="8645128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b="true" sz="2900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Test Accuracy: ~97.72% at threshold 0.994.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b="true" sz="2900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ROC-AUC Score: 0.9904.</a:t>
            </a:r>
          </a:p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Confusion matrix shows very low false positives.</a:t>
            </a:r>
          </a:p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spc="-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Recall for planets = 100% (no planets missed).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228" y="3318227"/>
            <a:ext cx="8256702" cy="5940073"/>
          </a:xfrm>
          <a:custGeom>
            <a:avLst/>
            <a:gdLst/>
            <a:ahLst/>
            <a:cxnLst/>
            <a:rect r="r" b="b" t="t" l="l"/>
            <a:pathLst>
              <a:path h="5940073" w="8256702">
                <a:moveTo>
                  <a:pt x="0" y="0"/>
                </a:moveTo>
                <a:lnTo>
                  <a:pt x="8256702" y="0"/>
                </a:lnTo>
                <a:lnTo>
                  <a:pt x="8256702" y="5940073"/>
                </a:lnTo>
                <a:lnTo>
                  <a:pt x="0" y="59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5609" y="3318227"/>
            <a:ext cx="7923691" cy="5940073"/>
          </a:xfrm>
          <a:custGeom>
            <a:avLst/>
            <a:gdLst/>
            <a:ahLst/>
            <a:cxnLst/>
            <a:rect r="r" b="b" t="t" l="l"/>
            <a:pathLst>
              <a:path h="5940073" w="7923691">
                <a:moveTo>
                  <a:pt x="0" y="0"/>
                </a:moveTo>
                <a:lnTo>
                  <a:pt x="7923691" y="0"/>
                </a:lnTo>
                <a:lnTo>
                  <a:pt x="7923691" y="5940073"/>
                </a:lnTo>
                <a:lnTo>
                  <a:pt x="0" y="5940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98220"/>
            <a:ext cx="6256421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9"/>
              </a:lnSpc>
              <a:spcBef>
                <a:spcPct val="0"/>
              </a:spcBef>
            </a:pPr>
            <a:r>
              <a:rPr lang="en-US" b="true" sz="4299" spc="-64" u="sng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Threshold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228" y="1239253"/>
            <a:ext cx="8574167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8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Tried thresholds from 0.5 to 0.999.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Objective: Detect ≥5 planets with ≤50 false alarms.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8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Best threshold found: 0.994.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4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High accuracy maintained across thresholds.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0184" y="3544268"/>
            <a:ext cx="9548964" cy="6398790"/>
          </a:xfrm>
          <a:custGeom>
            <a:avLst/>
            <a:gdLst/>
            <a:ahLst/>
            <a:cxnLst/>
            <a:rect r="r" b="b" t="t" l="l"/>
            <a:pathLst>
              <a:path h="6398790" w="9548964">
                <a:moveTo>
                  <a:pt x="0" y="0"/>
                </a:moveTo>
                <a:lnTo>
                  <a:pt x="9548964" y="0"/>
                </a:lnTo>
                <a:lnTo>
                  <a:pt x="9548964" y="6398790"/>
                </a:lnTo>
                <a:lnTo>
                  <a:pt x="0" y="6398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78932"/>
            <a:ext cx="388018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4399" spc="-65" u="sng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975" y="1326281"/>
            <a:ext cx="9568577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The model successfully classifies exoplanet candidates.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8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High precision for non-planets.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800" spc="-4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High recall for real planets.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4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AUC close to 1.0 indicates strong predictive power.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340610"/>
            <a:chOff x="0" y="0"/>
            <a:chExt cx="1029283" cy="600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666750"/>
            <a:ext cx="4010025" cy="2340610"/>
            <a:chOff x="0" y="0"/>
            <a:chExt cx="1029283" cy="6007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4010025" cy="2239371"/>
            <a:chOff x="0" y="0"/>
            <a:chExt cx="1029283" cy="57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283" cy="574796"/>
            </a:xfrm>
            <a:custGeom>
              <a:avLst/>
              <a:gdLst/>
              <a:ahLst/>
              <a:cxnLst/>
              <a:rect r="r" b="b" t="t" l="l"/>
              <a:pathLst>
                <a:path h="574796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36184"/>
                  </a:lnTo>
                  <a:cubicBezTo>
                    <a:pt x="1029283" y="557509"/>
                    <a:pt x="1011996" y="574796"/>
                    <a:pt x="990671" y="574796"/>
                  </a:cubicBezTo>
                  <a:lnTo>
                    <a:pt x="38613" y="574796"/>
                  </a:lnTo>
                  <a:cubicBezTo>
                    <a:pt x="17288" y="574796"/>
                    <a:pt x="0" y="557509"/>
                    <a:pt x="0" y="536184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4"/>
              <a:stretch>
                <a:fillRect l="-423" t="0" r="-42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33425"/>
            <a:ext cx="5753100" cy="449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Metrics: Model Performance 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6400" y="3344989"/>
            <a:ext cx="4010025" cy="1218438"/>
            <a:chOff x="0" y="0"/>
            <a:chExt cx="5346700" cy="162458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579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Accuracy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81939"/>
              <a:ext cx="5346700" cy="842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achieved a remarkable accuracy of 97.7%.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3352800"/>
            <a:ext cx="4010025" cy="1218438"/>
            <a:chOff x="0" y="0"/>
            <a:chExt cx="5346700" cy="162458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579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ROC AUC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81939"/>
              <a:ext cx="5346700" cy="842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  <a:spcBef>
                  <a:spcPct val="0"/>
                </a:spcBef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ROC AUC score reached an impressive 0.99.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7829550"/>
            <a:ext cx="4010025" cy="1218438"/>
            <a:chOff x="0" y="0"/>
            <a:chExt cx="5346700" cy="162458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534579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Recall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81939"/>
              <a:ext cx="5346700" cy="842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Perfect recall of 1.0 ensures all planets detected.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7335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0C4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150829"/>
            <a:chOff x="0" y="0"/>
            <a:chExt cx="17259300" cy="286777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Conclusion and Summary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670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Recap of Exoplanet Classification Insights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4269105"/>
            <a:ext cx="12644660" cy="23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8"/>
              </a:lnSpc>
              <a:spcBef>
                <a:spcPct val="0"/>
              </a:spcBef>
            </a:pPr>
            <a:r>
              <a:rPr lang="en-US" sz="336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FFT + Neural Networks provide strong detection capability.</a:t>
            </a:r>
          </a:p>
          <a:p>
            <a:pPr algn="l">
              <a:lnSpc>
                <a:spcPts val="4708"/>
              </a:lnSpc>
              <a:spcBef>
                <a:spcPct val="0"/>
              </a:spcBef>
            </a:pPr>
            <a:r>
              <a:rPr lang="en-US" sz="336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Balanced dataset &amp; class weights greatly improve results.</a:t>
            </a:r>
          </a:p>
          <a:p>
            <a:pPr algn="just">
              <a:lnSpc>
                <a:spcPts val="4708"/>
              </a:lnSpc>
              <a:spcBef>
                <a:spcPct val="0"/>
              </a:spcBef>
            </a:pPr>
            <a:r>
              <a:rPr lang="en-US" sz="336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Model can be extended to multi-class exoplanet types.</a:t>
            </a:r>
          </a:p>
          <a:p>
            <a:pPr algn="l">
              <a:lnSpc>
                <a:spcPts val="4708"/>
              </a:lnSpc>
              <a:spcBef>
                <a:spcPct val="0"/>
              </a:spcBef>
            </a:pPr>
            <a:r>
              <a:rPr lang="en-US" sz="336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Supports automated exoplanet analysis for astronomy research.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Strengths and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2656523"/>
            <a:chOff x="0" y="0"/>
            <a:chExt cx="9182100" cy="35420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High Recall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237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machine learning model excels at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detecting true planets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ensuring high recall rates. This strength allows for increased identification of exoplanets, vital for further astronomical studies.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2627948"/>
            <a:chOff x="0" y="0"/>
            <a:chExt cx="9182100" cy="35039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0C41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False Positives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219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Despite its strengths, the model struggles with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many false positives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This challenge necessitates ongoing refinement and validation within the classification process to improve overall accuracy.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0C4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Exploring ML in Astronomy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0C41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Exoplanet Classification</dc:description>
  <dc:identifier>DAG5hmcuNpY</dc:identifier>
  <dcterms:modified xsi:type="dcterms:W3CDTF">2011-08-01T06:04:30Z</dcterms:modified>
  <cp:revision>1</cp:revision>
  <dc:title>Presentation - Exoplanet Classification</dc:title>
</cp:coreProperties>
</file>